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645920"/>
            <a:ext cx="4754880" cy="475488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ENGINEERING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Store</a:t>
            </a:r>
            <a:endParaRPr lang="en-US" sz="48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Warehouse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and building an end-to-end analytics pipeline — from a normalized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system to a dimensional data warehouse and business-ready SQL insights.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212080"/>
            <a:ext cx="1124712" cy="384048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 w="12700">
            <a:solidFill>
              <a:srgbClr val="3A43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212080"/>
            <a:ext cx="1124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12264" y="5212080"/>
            <a:ext cx="1732788" cy="384048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 w="12700">
            <a:solidFill>
              <a:srgbClr val="3A43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12264" y="5212080"/>
            <a:ext cx="17327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Normalization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09644" y="5212080"/>
            <a:ext cx="2253996" cy="384048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 w="12700">
            <a:solidFill>
              <a:srgbClr val="3A43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09644" y="5212080"/>
            <a:ext cx="22539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&amp; Snowflake Schema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28232" y="5212080"/>
            <a:ext cx="516636" cy="384048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 w="12700">
            <a:solidFill>
              <a:srgbClr val="3A43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5212080"/>
            <a:ext cx="5166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09460" y="5212080"/>
            <a:ext cx="1124712" cy="384048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 w="12700">
            <a:solidFill>
              <a:srgbClr val="3A43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09460" y="5212080"/>
            <a:ext cx="1124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Type 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398764" y="521208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 w="12700">
            <a:solidFill>
              <a:srgbClr val="3A43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98764" y="521208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retail transactions into fast, trustworthy analytics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models a retail business selling through physical stores and an online channel. It starts with a normalized transactional database, then re-shapes that data into a dimensional warehouse purpose-built for reporting — capturing sales, returns, customers, products, and stores across time.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542032" cy="320040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E1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898648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8986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96112" y="3657600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OLTP System Design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96112" y="429768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15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8-table relational schema in 3NF: customers, orders, products, stores, returns.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01568" y="2606040"/>
            <a:ext cx="2542032" cy="320040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E1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75888" y="2898648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3675888" y="28986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57600" y="3657600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Dimensional Modeling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657600" y="429768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15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evolved into a Snowflake schema for cleaner, reusable dimensions.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63056" y="2606040"/>
            <a:ext cx="2542032" cy="320040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E1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37376" y="2898648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6437376" y="28986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19088" y="3657600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Pipeline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19088" y="429768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15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scripts extract, transform, and load OLTP data into the warehouse, with SCD Type 2 history.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24544" y="2606040"/>
            <a:ext cx="2542032" cy="320040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E1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98864" y="2898648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9198864" y="28986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180576" y="3657600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Intelligence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180576" y="429768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15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SQL — CTEs, window functions, rankings — answering real business questions.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6A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 DATA WAREHOUSE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OLTP Database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Retail_Store — the transactional system of record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core entities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148840" cy="402336"/>
          </a:xfrm>
          <a:prstGeom prst="roundRect">
            <a:avLst>
              <a:gd name="adj" fmla="val 50000"/>
            </a:avLst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11680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71800" y="2011680"/>
            <a:ext cx="2148840" cy="402336"/>
          </a:xfrm>
          <a:prstGeom prst="roundRect">
            <a:avLst>
              <a:gd name="adj" fmla="val 50000"/>
            </a:avLst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2011680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23744"/>
            <a:ext cx="2148840" cy="402336"/>
          </a:xfrm>
          <a:prstGeom prst="roundRect">
            <a:avLst>
              <a:gd name="adj" fmla="val 50000"/>
            </a:avLst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23744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71800" y="2523744"/>
            <a:ext cx="2148840" cy="402336"/>
          </a:xfrm>
          <a:prstGeom prst="roundRect">
            <a:avLst>
              <a:gd name="adj" fmla="val 50000"/>
            </a:avLst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2523744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035808"/>
            <a:ext cx="2148840" cy="402336"/>
          </a:xfrm>
          <a:prstGeom prst="roundRect">
            <a:avLst>
              <a:gd name="adj" fmla="val 50000"/>
            </a:avLst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035808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71800" y="3035808"/>
            <a:ext cx="2148840" cy="402336"/>
          </a:xfrm>
          <a:prstGeom prst="roundRect">
            <a:avLst>
              <a:gd name="adj" fmla="val 50000"/>
            </a:avLst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71800" y="3035808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547872"/>
            <a:ext cx="2148840" cy="402336"/>
          </a:xfrm>
          <a:prstGeom prst="roundRect">
            <a:avLst>
              <a:gd name="adj" fmla="val 50000"/>
            </a:avLst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547872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160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relationships (all 1-to-Many)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457200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Customer  →  Orders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489204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Store  →  Orders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521208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Category  →  Products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553212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Orders  →  Order_Items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585216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Products  →  Order_Items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617220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Order_Items  →  Returns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89320" y="1600200"/>
            <a:ext cx="5577840" cy="4617720"/>
          </a:xfrm>
          <a:prstGeom prst="roundRect">
            <a:avLst>
              <a:gd name="adj" fmla="val 1188"/>
            </a:avLst>
          </a:prstGeom>
          <a:solidFill>
            <a:srgbClr val="141B4D"/>
          </a:solidFill>
          <a:ln/>
          <a:effectLst>
            <a:outerShdw sx="100000" sy="100000" kx="0" ky="0" algn="bl" rotWithShape="0" blurRad="177800" dist="50800" dir="5400000">
              <a:srgbClr val="1E2761">
                <a:alpha val="25000"/>
              </a:srgbClr>
            </a:outerShdw>
          </a:effectLst>
        </p:spPr>
      </p:sp>
      <p:pic>
        <p:nvPicPr>
          <p:cNvPr id="27" name="Image 0" descr="erd_cle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72200" y="1783080"/>
            <a:ext cx="5212080" cy="425196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6A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 DATA WAREHOUSE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Normalized to 3NF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redundant data, no update anomalies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1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4767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1NF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Atomic Attributes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15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holds atomic values — no repeating groups or multi-valued fields.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69164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1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194767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2NF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663440" y="25603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Dependency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301752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15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non-key attribute depends on the whole primary key, not just part of it.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1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0" y="194767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3NF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412480" y="25603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Transitive Dependency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0" y="301752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15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data lives in its own table — e.g. category details sit in Categories, not duplicated inside Products.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6634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892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5193792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consistent transactional database — minimal redundancy, strong data integrity, and an efficient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daily business operations.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6A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 DATA WAREHOUSE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OLTP to Star Schema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Retail_Store_DWS — modeled for fast analytical queries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 flipV="1">
            <a:off x="1965960" y="2057400"/>
            <a:ext cx="3383280" cy="1120140"/>
          </a:xfrm>
          <a:prstGeom prst="line">
            <a:avLst/>
          </a:prstGeom>
          <a:noFill/>
          <a:ln w="19050">
            <a:solidFill>
              <a:srgbClr val="C3CB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5349240" y="2057400"/>
            <a:ext cx="3931920" cy="1120140"/>
          </a:xfrm>
          <a:prstGeom prst="line">
            <a:avLst/>
          </a:prstGeom>
          <a:noFill/>
          <a:ln w="19050">
            <a:solidFill>
              <a:srgbClr val="C3CB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65960" y="3177540"/>
            <a:ext cx="3383280" cy="1897380"/>
          </a:xfrm>
          <a:prstGeom prst="line">
            <a:avLst/>
          </a:prstGeom>
          <a:noFill/>
          <a:ln w="19050">
            <a:solidFill>
              <a:srgbClr val="C3CB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49240" y="3177540"/>
            <a:ext cx="3931920" cy="1897380"/>
          </a:xfrm>
          <a:prstGeom prst="line">
            <a:avLst/>
          </a:prstGeom>
          <a:noFill/>
          <a:ln w="19050">
            <a:solidFill>
              <a:srgbClr val="C3CB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965960" y="2057400"/>
            <a:ext cx="3383280" cy="2125980"/>
          </a:xfrm>
          <a:prstGeom prst="line">
            <a:avLst/>
          </a:prstGeom>
          <a:noFill/>
          <a:ln w="19050">
            <a:solidFill>
              <a:srgbClr val="C3CB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5349240" y="2057400"/>
            <a:ext cx="3931920" cy="2125980"/>
          </a:xfrm>
          <a:prstGeom prst="line">
            <a:avLst/>
          </a:prstGeom>
          <a:noFill/>
          <a:ln w="19050">
            <a:solidFill>
              <a:srgbClr val="C3CB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65960" y="4183380"/>
            <a:ext cx="3383280" cy="891540"/>
          </a:xfrm>
          <a:prstGeom prst="line">
            <a:avLst/>
          </a:prstGeom>
          <a:noFill/>
          <a:ln w="19050">
            <a:solidFill>
              <a:srgbClr val="C3CB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49240" y="4183380"/>
            <a:ext cx="3931920" cy="891540"/>
          </a:xfrm>
          <a:prstGeom prst="line">
            <a:avLst/>
          </a:prstGeom>
          <a:noFill/>
          <a:ln w="19050">
            <a:solidFill>
              <a:srgbClr val="C3C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169164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EEF2FC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691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EEF2FC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691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470916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EEF2FC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709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38160" y="470916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EEF2FC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4709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Dim_Store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06240" y="278892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5400000">
              <a:srgbClr val="1E2761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06240" y="27889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Fact_Sales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206240" y="379476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5400000">
              <a:srgbClr val="1E2761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206240" y="37947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ReturnFact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5806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TABLES  hold measures  ·  quantity · sales amount · cost · profit · refund amount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6080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TABLES  describe the “who, what, where, when”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6A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 DATA WAREHOUSE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Optimizing to Snowflake Schema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Normalizing two dimensions to cut redundancy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1E6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67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· Star Schema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423160"/>
            <a:ext cx="4572000" cy="640080"/>
          </a:xfrm>
          <a:prstGeom prst="roundRect">
            <a:avLst>
              <a:gd name="adj" fmla="val 8571"/>
            </a:avLst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231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(includes category_name)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14400" y="3291840"/>
            <a:ext cx="4572000" cy="640080"/>
          </a:xfrm>
          <a:prstGeom prst="roundRect">
            <a:avLst>
              <a:gd name="adj" fmla="val 8571"/>
            </a:avLst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918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Dim_Store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(includes region)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42062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15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and region values repeat across every product / store row.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48920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redundancy · harder to keep consistent when a category or region changes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55080" y="1691640"/>
            <a:ext cx="5120640" cy="4251960"/>
          </a:xfrm>
          <a:prstGeom prst="roundRect">
            <a:avLst>
              <a:gd name="adj" fmla="val 172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1E2761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2940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· Snowflake Schema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629400" y="2423160"/>
            <a:ext cx="4572000" cy="502920"/>
          </a:xfrm>
          <a:prstGeom prst="roundRect">
            <a:avLst>
              <a:gd name="adj" fmla="val 10909"/>
            </a:avLst>
          </a:prstGeom>
          <a:solidFill>
            <a:srgbClr val="141B4D"/>
          </a:solidFill>
          <a:ln w="12700">
            <a:solidFill>
              <a:srgbClr val="3A43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24231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29400" y="293522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references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629400" y="3172968"/>
            <a:ext cx="4572000" cy="502920"/>
          </a:xfrm>
          <a:prstGeom prst="roundRect">
            <a:avLst>
              <a:gd name="adj" fmla="val 10909"/>
            </a:avLst>
          </a:prstGeom>
          <a:solidFill>
            <a:srgbClr val="E8A93A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317296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Dim_Category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29400" y="3840480"/>
            <a:ext cx="4572000" cy="502920"/>
          </a:xfrm>
          <a:prstGeom prst="roundRect">
            <a:avLst>
              <a:gd name="adj" fmla="val 10909"/>
            </a:avLst>
          </a:prstGeom>
          <a:solidFill>
            <a:srgbClr val="141B4D"/>
          </a:solidFill>
          <a:ln w="12700">
            <a:solidFill>
              <a:srgbClr val="3A43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38404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Dim_Store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29400" y="435254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references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4590288"/>
            <a:ext cx="4572000" cy="502920"/>
          </a:xfrm>
          <a:prstGeom prst="roundRect">
            <a:avLst>
              <a:gd name="adj" fmla="val 10909"/>
            </a:avLst>
          </a:prstGeom>
          <a:solidFill>
            <a:srgbClr val="E8A93A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459028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Dim_Region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9400" y="5303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each value stored once · easier maintenance &amp; consistency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6A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 DATA WAREHOUSE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data from Retail_Store (OLTP) into Retail_Store_DWS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1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15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source rows from the OLTP tables: Customers, Stores, Products, Orders, Order_Items, Returns.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87368" y="294894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89120" y="1783080"/>
            <a:ext cx="342900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1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05740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63440" y="27889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Dimensions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320040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15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 Dim_Category, Dim_Region, Dim_Date, then Dim_Customers &amp; Dim_Store with SCD Type 2 tracking (start_date / end_date / is_current).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36408" y="294894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138160" y="1783080"/>
            <a:ext cx="342900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1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0" y="205740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412480" y="27889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Facts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0" y="320040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15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transactions against loaded dimension keys to build Fact_Sales (sales, cost, profit) and ReturnFact (refunds).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8920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5074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SCD Type 2?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533095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customer or store's details change, the warehouse keeps the old row (closed with an end_date) and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inserts a new current one — preserving accurate history for every past sale.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6A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 DATA WAREHOUSE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Data Into Answers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SQL against the warehouse — CTEs, window functions, ranking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6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73152" cy="14173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85623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Customers by Revenue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96112" y="2377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15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customers by total spend and order count.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6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1691640"/>
            <a:ext cx="73152" cy="14173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4599432" y="185623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Trends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99432" y="2377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15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and yearly revenue, rolled up from Fact_Sales.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6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0" y="1691640"/>
            <a:ext cx="73152" cy="14173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8302752" y="185623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Product per Region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02752" y="2377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15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RANK() OVER(PARTITION BY region) to find each region's #1 seller.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2918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6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291840"/>
            <a:ext cx="73152" cy="14173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345643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Retention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96112" y="39776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15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distinct active months per customer to gauge loyalty.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43400" y="32918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6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43400" y="3291840"/>
            <a:ext cx="73152" cy="14173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4599432" y="345643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 Going Cold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99432" y="39776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15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anyone whose last purchase was 90+ days ago.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46720" y="32918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6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0" y="3291840"/>
            <a:ext cx="73152" cy="14173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6" name="Text 24"/>
          <p:cNvSpPr/>
          <p:nvPr/>
        </p:nvSpPr>
        <p:spPr>
          <a:xfrm>
            <a:off x="8302752" y="345643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7-Day Rolling Revenue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302752" y="39776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15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moving average via a windowed AVG() over daily sales.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6A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 DATA WAREHOUSE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828800"/>
            <a:ext cx="4754880" cy="475488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Demonstrated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shows end to end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141B4D"/>
          </a:solidFill>
          <a:ln w="12700">
            <a:solidFill>
              <a:srgbClr val="343D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892808"/>
            <a:ext cx="603504" cy="603504"/>
          </a:xfrm>
          <a:prstGeom prst="ellipse">
            <a:avLst/>
          </a:prstGeom>
          <a:solidFill>
            <a:srgbClr val="E8A93A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89280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00200" y="181965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Data Modeling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218541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8-table OLTP schema in 3NF with clear PK/FK relationships.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5040" y="1691640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141B4D"/>
          </a:solidFill>
          <a:ln w="12700">
            <a:solidFill>
              <a:srgbClr val="343D7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36208" y="1892808"/>
            <a:ext cx="603504" cy="603504"/>
          </a:xfrm>
          <a:prstGeom prst="ellipse">
            <a:avLst/>
          </a:prstGeom>
          <a:solidFill>
            <a:srgbClr val="E8A93A"/>
          </a:solidFill>
          <a:ln/>
        </p:spPr>
      </p:sp>
      <p:sp>
        <p:nvSpPr>
          <p:cNvPr id="12" name="Text 10"/>
          <p:cNvSpPr/>
          <p:nvPr/>
        </p:nvSpPr>
        <p:spPr>
          <a:xfrm>
            <a:off x="6236208" y="189280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995160" y="181965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Dimensional Modeling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95160" y="218541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design, evolved into a Snowflake schema.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2880360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141B4D"/>
          </a:solidFill>
          <a:ln w="12700">
            <a:solidFill>
              <a:srgbClr val="343D7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3081528"/>
            <a:ext cx="603504" cy="603504"/>
          </a:xfrm>
          <a:prstGeom prst="ellipse">
            <a:avLst/>
          </a:prstGeom>
          <a:solidFill>
            <a:srgbClr val="E8A93A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308152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600200" y="300837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Development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00200" y="337413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SQL-based extract / transform / load with SCD Type 2 history.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35040" y="2880360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141B4D"/>
          </a:solidFill>
          <a:ln w="12700">
            <a:solidFill>
              <a:srgbClr val="343D7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6208" y="3081528"/>
            <a:ext cx="603504" cy="603504"/>
          </a:xfrm>
          <a:prstGeom prst="ellipse">
            <a:avLst/>
          </a:prstGeom>
          <a:solidFill>
            <a:srgbClr val="E8A93A"/>
          </a:solidFill>
          <a:ln/>
        </p:spPr>
      </p:sp>
      <p:sp>
        <p:nvSpPr>
          <p:cNvPr id="22" name="Text 20"/>
          <p:cNvSpPr/>
          <p:nvPr/>
        </p:nvSpPr>
        <p:spPr>
          <a:xfrm>
            <a:off x="6236208" y="308152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995160" y="300837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SQL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95160" y="337413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CTEs, window functions (RANK, AVG OVER), multi-table joins.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4069080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141B4D"/>
          </a:solidFill>
          <a:ln w="12700">
            <a:solidFill>
              <a:srgbClr val="343D7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" y="4270248"/>
            <a:ext cx="603504" cy="603504"/>
          </a:xfrm>
          <a:prstGeom prst="ellipse">
            <a:avLst/>
          </a:prstGeom>
          <a:solidFill>
            <a:srgbClr val="E8A93A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" y="427024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600200" y="419709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Warehouse Architecture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00200" y="456285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&amp; dimension separation tuned for analytical workloads.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35040" y="4069080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141B4D"/>
          </a:solidFill>
          <a:ln w="12700">
            <a:solidFill>
              <a:srgbClr val="343D7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36208" y="4270248"/>
            <a:ext cx="603504" cy="603504"/>
          </a:xfrm>
          <a:prstGeom prst="ellipse">
            <a:avLst/>
          </a:prstGeom>
          <a:solidFill>
            <a:srgbClr val="E8A93A"/>
          </a:solidFill>
          <a:ln/>
        </p:spPr>
      </p:sp>
      <p:sp>
        <p:nvSpPr>
          <p:cNvPr id="32" name="Text 30"/>
          <p:cNvSpPr/>
          <p:nvPr/>
        </p:nvSpPr>
        <p:spPr>
          <a:xfrm>
            <a:off x="6236208" y="427024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995160" y="419709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Analytics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95160" y="456285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retention, and product-performance reporting.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D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 DATA WAREHOUSE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84048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65176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35204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 Data Warehouse — from OLTP design to business-ready insight.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0" y="40233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D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2026-07-24T13:52:21Z</dcterms:created>
  <dcterms:modified xsi:type="dcterms:W3CDTF">2026-07-24T13:52:21Z</dcterms:modified>
</cp:coreProperties>
</file>